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731520"/>
            <a:ext cx="2103120" cy="2103120"/>
          </a:xfrm>
          <a:prstGeom prst="ellipse">
            <a:avLst/>
          </a:prstGeom>
          <a:solidFill>
            <a:srgbClr val="17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103120"/>
            <a:ext cx="1325880" cy="1325880"/>
          </a:xfrm>
          <a:prstGeom prst="ellipse">
            <a:avLst/>
          </a:prstGeom>
          <a:solidFill>
            <a:srgbClr val="144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063240"/>
            <a:ext cx="2468880" cy="2468880"/>
          </a:xfrm>
          <a:prstGeom prst="ellipse">
            <a:avLst/>
          </a:prstGeom>
          <a:solidFill>
            <a:srgbClr val="11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960120"/>
            <a:ext cx="749807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7FAFF"/>
                </a:solidFill>
                <a:latin typeface="Aptos"/>
              </a:rPr>
              <a:t>SMART AMBULANCE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713232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00CCBB"/>
                </a:solidFill>
                <a:latin typeface="Aptos"/>
              </a:rPr>
              <a:t>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87168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B5C6DB"/>
                </a:solidFill>
                <a:latin typeface="Aptos"/>
              </a:rPr>
              <a:t>Algorithm-Based Emergency Response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7406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8DAEE"/>
                </a:solidFill>
                <a:latin typeface="Aptos"/>
              </a:rPr>
              <a:t>PRIORITY QUEUE   •   GREEDY ALGORITHM   •   DIJKSTRA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69080"/>
            <a:ext cx="3154680" cy="1261872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4206240"/>
            <a:ext cx="50292" cy="987551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24528"/>
            <a:ext cx="28072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636008"/>
            <a:ext cx="2770632" cy="6035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Python  •  Flask
React  • 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069080"/>
            <a:ext cx="3154680" cy="1261872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8807" y="4206240"/>
            <a:ext cx="50292" cy="987551"/>
          </a:xfrm>
          <a:prstGeom prst="rect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224528"/>
            <a:ext cx="28072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PROJECT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4636008"/>
            <a:ext cx="2770632" cy="6035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Data Structures and Algorithms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8595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5C6DB"/>
                </a:solidFill>
                <a:latin typeface="Aptos"/>
              </a:rPr>
              <a:t>EMERGENCY RESPONSE  |  ROUTE OPTIMIZATION  |  SMART DISPATCH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822960" cy="50292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832104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5C6DB"/>
                </a:solidFill>
                <a:latin typeface="Aptos"/>
              </a:rPr>
              <a:t>The challenge and the system's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5C6DB"/>
                </a:solidFill>
                <a:latin typeface="Aptos"/>
              </a:rPr>
              <a:t>02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7FAFF"/>
                </a:solidFill>
                <a:latin typeface="Aptos"/>
              </a:rPr>
              <a:t>Emergency services must coordinate urgent requests, suitable vehicles and road conditions quickly.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166360" cy="114300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103120"/>
            <a:ext cx="50292" cy="868680"/>
          </a:xfrm>
          <a:prstGeom prst="rect">
            <a:avLst/>
          </a:prstGeom>
          <a:solidFill>
            <a:srgbClr val="FF6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48188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THE SYSTEM MUST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32888"/>
            <a:ext cx="478231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5C6DB"/>
                </a:solidFill>
                <a:latin typeface="Aptos"/>
              </a:rPr>
              <a:t>• Identify the most urgent emergency
• Find an available, medically suitable ambulance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166360" cy="114300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2103120"/>
            <a:ext cx="50292" cy="868680"/>
          </a:xfrm>
          <a:prstGeom prst="rect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21408"/>
            <a:ext cx="48188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IT MUST ALSO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32888"/>
            <a:ext cx="4782312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5C6DB"/>
                </a:solidFill>
                <a:latin typeface="Aptos"/>
              </a:rPr>
              <a:t>• Consider distance and traffic
• Calculate a fast route and handle multiple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CCBB"/>
                </a:solidFill>
                <a:latin typeface="Aptos"/>
              </a:rP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1363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913632"/>
            <a:ext cx="9875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7FAFF"/>
                </a:solidFill>
                <a:latin typeface="Aptos"/>
              </a:rPr>
              <a:t>Prioritize emergencies by severity and waiting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52544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352544"/>
            <a:ext cx="9875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7FAFF"/>
                </a:solidFill>
                <a:latin typeface="Aptos"/>
              </a:rPr>
              <a:t>Choose a feasible ambulance with low estimated response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91456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791456"/>
            <a:ext cx="9875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7FAFF"/>
                </a:solidFill>
                <a:latin typeface="Aptos"/>
              </a:rPr>
              <a:t>Calculate a traffic-aware route using Dijkstra's algorithm.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3036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230368"/>
            <a:ext cx="9875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7FAFF"/>
                </a:solidFill>
                <a:latin typeface="Aptos"/>
              </a:rPr>
              <a:t>Display the dispatch decision and explain the algorithmic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Aptos"/>
              </a:rPr>
              <a:t>Proposed Solution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822960" cy="50292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832104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5C6DB"/>
                </a:solidFill>
                <a:latin typeface="Aptos"/>
              </a:rPr>
              <a:t>Three algorithms handle three different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5C6DB"/>
                </a:solidFill>
                <a:latin typeface="Aptos"/>
              </a:rPr>
              <a:t>03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371600" cy="1051560"/>
          </a:xfrm>
          <a:prstGeom prst="roundRect">
            <a:avLst/>
          </a:prstGeom>
          <a:solidFill>
            <a:srgbClr val="172D4A"/>
          </a:solidFill>
          <a:ln>
            <a:solidFill>
              <a:srgbClr val="00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359152"/>
            <a:ext cx="122529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Emergency
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2450592"/>
            <a:ext cx="4754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CCB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148840"/>
            <a:ext cx="1371600" cy="1051560"/>
          </a:xfrm>
          <a:prstGeom prst="roundRect">
            <a:avLst/>
          </a:prstGeom>
          <a:solidFill>
            <a:srgbClr val="172D4A"/>
          </a:solidFill>
          <a:ln>
            <a:solidFill>
              <a:srgbClr val="68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2359152"/>
            <a:ext cx="122529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Priority
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2450592"/>
            <a:ext cx="4754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CCB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48840"/>
            <a:ext cx="1371600" cy="1051560"/>
          </a:xfrm>
          <a:prstGeom prst="roundRect">
            <a:avLst/>
          </a:prstGeom>
          <a:solidFill>
            <a:srgbClr val="172D4A"/>
          </a:solidFill>
          <a:ln>
            <a:solidFill>
              <a:srgbClr val="FFB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359152"/>
            <a:ext cx="122529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Feasible
Ambulances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2450592"/>
            <a:ext cx="4754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CCB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48840"/>
            <a:ext cx="1371600" cy="1051560"/>
          </a:xfrm>
          <a:prstGeom prst="roundRect">
            <a:avLst/>
          </a:prstGeom>
          <a:solidFill>
            <a:srgbClr val="172D4A"/>
          </a:solidFill>
          <a:ln>
            <a:solidFill>
              <a:srgbClr val="6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359152"/>
            <a:ext cx="122529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Greedy
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450592"/>
            <a:ext cx="4754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CCB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148840"/>
            <a:ext cx="1371600" cy="1051560"/>
          </a:xfrm>
          <a:prstGeom prst="roundRect">
            <a:avLst/>
          </a:prstGeom>
          <a:solidFill>
            <a:srgbClr val="172D4A"/>
          </a:solidFill>
          <a:ln>
            <a:solidFill>
              <a:srgbClr val="68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2359152"/>
            <a:ext cx="122529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Dijkstra Route
Calculation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2450592"/>
            <a:ext cx="4754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0CCB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2148840"/>
            <a:ext cx="1371600" cy="1051560"/>
          </a:xfrm>
          <a:prstGeom prst="roundRect">
            <a:avLst/>
          </a:prstGeom>
          <a:solidFill>
            <a:srgbClr val="172D4A"/>
          </a:solidFill>
          <a:ln>
            <a:solidFill>
              <a:srgbClr val="00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5872" y="2359152"/>
            <a:ext cx="122529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Dispatch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86200"/>
            <a:ext cx="3337560" cy="137160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4023360"/>
            <a:ext cx="50292" cy="1097280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4164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PRIORITY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453128"/>
            <a:ext cx="295351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Which emergency should be handled first?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886200"/>
            <a:ext cx="3337560" cy="137160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7" y="4023360"/>
            <a:ext cx="50292" cy="1097280"/>
          </a:xfrm>
          <a:prstGeom prst="rect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04164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GREEDY ALGORITHM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4453128"/>
            <a:ext cx="295351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Which suitable, available ambulance has the lowest ETA?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86200"/>
            <a:ext cx="3337560" cy="137160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6448" y="4023360"/>
            <a:ext cx="50292" cy="1097280"/>
          </a:xfrm>
          <a:prstGeom prst="rect">
            <a:avLst/>
          </a:prstGeom>
          <a:solidFill>
            <a:srgbClr val="68D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04164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DIJKSTRA'S ALGORITHM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453128"/>
            <a:ext cx="295351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Which route has the minimum travel-time cost?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5C6DB"/>
                </a:solidFill>
                <a:latin typeface="Aptos"/>
              </a:rPr>
              <a:t>Goal: minimize response time while respecting severity, availability, suitability and traffic.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Aptos"/>
              </a:rPr>
              <a:t>Priority Queue: Emergency Prioritization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822960" cy="50292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832104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5C6DB"/>
                </a:solidFill>
                <a:latin typeface="Aptos"/>
              </a:rPr>
              <a:t>Manage multiple pending requests efficiently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5C6DB"/>
                </a:solidFill>
                <a:latin typeface="Aptos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7FAFF"/>
                </a:solidFill>
                <a:latin typeface="Aptos"/>
              </a:rPr>
              <a:t>Priority is based on emergency severity, with waiting time used to help resolve 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2286000" cy="475488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43100"/>
            <a:ext cx="21579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Emergency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920240"/>
            <a:ext cx="2743200" cy="475488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943100"/>
            <a:ext cx="26151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Severity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920240"/>
            <a:ext cx="2103120" cy="475488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1943100"/>
            <a:ext cx="19751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95728"/>
            <a:ext cx="228600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418588"/>
            <a:ext cx="21579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E101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395728"/>
            <a:ext cx="274320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2418588"/>
            <a:ext cx="26151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395728"/>
            <a:ext cx="210312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2418588"/>
            <a:ext cx="19751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1 — Highest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871216"/>
            <a:ext cx="228600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894076"/>
            <a:ext cx="21579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E102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871216"/>
            <a:ext cx="274320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72968" y="2894076"/>
            <a:ext cx="26151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Serious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871216"/>
            <a:ext cx="210312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6168" y="2894076"/>
            <a:ext cx="19751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346704"/>
            <a:ext cx="228600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369564"/>
            <a:ext cx="21579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E103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346704"/>
            <a:ext cx="274320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2968" y="3369564"/>
            <a:ext cx="26151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Moderate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3346704"/>
            <a:ext cx="210312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6168" y="3369564"/>
            <a:ext cx="19751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822191"/>
            <a:ext cx="228600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845052"/>
            <a:ext cx="21579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E104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822191"/>
            <a:ext cx="274320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2968" y="3845052"/>
            <a:ext cx="26151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Minor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822191"/>
            <a:ext cx="210312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16168" y="3845052"/>
            <a:ext cx="1975103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4 — Lowest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2011680"/>
            <a:ext cx="3063240" cy="205740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02167" y="2148840"/>
            <a:ext cx="50292" cy="1783080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59" y="2167128"/>
            <a:ext cx="27157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HOW IT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2578608"/>
            <a:ext cx="2679192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5C6DB"/>
                </a:solidFill>
                <a:latin typeface="Aptos"/>
              </a:rPr>
              <a:t>• Add each request to the queue
• Remove the highest-priority request first
• Re-evaluate if urgency changes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709160"/>
            <a:ext cx="10424160" cy="77724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1248" y="4846320"/>
            <a:ext cx="50292" cy="502920"/>
          </a:xfrm>
          <a:prstGeom prst="rect">
            <a:avLst/>
          </a:prstGeom>
          <a:solidFill>
            <a:srgbClr val="67D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864608"/>
            <a:ext cx="100766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ADVANTAGE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276088"/>
            <a:ext cx="1004011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Efficient scheduling when multiple emergencies arrive close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Aptos"/>
              </a:rPr>
              <a:t>Greedy Algorithm: Ambulance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822960" cy="50292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832104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5C6DB"/>
                </a:solidFill>
                <a:latin typeface="Aptos"/>
              </a:rPr>
              <a:t>Select the lowest-ETA ambulance among feasible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5C6DB"/>
                </a:solidFill>
                <a:latin typeface="Aptos"/>
              </a:rPr>
              <a:t>05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794760" cy="123444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63039"/>
            <a:ext cx="50292" cy="960120"/>
          </a:xfrm>
          <a:prstGeom prst="rect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34472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FEASIBILITY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3410712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5C6DB"/>
                </a:solidFill>
                <a:latin typeface="Aptos"/>
              </a:rPr>
              <a:t>Ambulance must be available, medically suitable and capable of handling the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325880"/>
            <a:ext cx="1920240" cy="438912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348739"/>
            <a:ext cx="179222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CCBB"/>
                </a:solidFill>
                <a:latin typeface="Aptos"/>
              </a:rPr>
              <a:t>Ambulance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325880"/>
            <a:ext cx="1463040" cy="438912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1348739"/>
            <a:ext cx="133502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CCBB"/>
                </a:solidFill>
                <a:latin typeface="Aptos"/>
              </a:rPr>
              <a:t>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325880"/>
            <a:ext cx="1325880" cy="438912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348739"/>
            <a:ext cx="119786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CCBB"/>
                </a:solidFill>
                <a:latin typeface="Aptos"/>
              </a:rPr>
              <a:t>ETA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325880"/>
            <a:ext cx="1828800" cy="438912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6648" y="1348739"/>
            <a:ext cx="170078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CCBB"/>
                </a:solidFill>
                <a:latin typeface="Aptos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1764792"/>
            <a:ext cx="1920240" cy="438912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1787651"/>
            <a:ext cx="179222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AMB01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764792"/>
            <a:ext cx="1463040" cy="438912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1787651"/>
            <a:ext cx="133502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Basic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1764792"/>
            <a:ext cx="1325880" cy="438912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1787651"/>
            <a:ext cx="119786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8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764792"/>
            <a:ext cx="1828800" cy="438912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8" y="1787651"/>
            <a:ext cx="170078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Available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2203704"/>
            <a:ext cx="1920240" cy="438912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7488" y="2226564"/>
            <a:ext cx="179222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AMB02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2203704"/>
            <a:ext cx="1463040" cy="438912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2226564"/>
            <a:ext cx="133502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ICU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2203704"/>
            <a:ext cx="1325880" cy="438912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8" y="2226564"/>
            <a:ext cx="119786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5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203704"/>
            <a:ext cx="1828800" cy="438912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56648" y="2226564"/>
            <a:ext cx="170078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Available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642615"/>
            <a:ext cx="1920240" cy="438912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7488" y="2665475"/>
            <a:ext cx="179222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AMB03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2642615"/>
            <a:ext cx="1463040" cy="438912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2665475"/>
            <a:ext cx="133502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Basic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2642615"/>
            <a:ext cx="1325880" cy="438912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8" y="2665475"/>
            <a:ext cx="119786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4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2642615"/>
            <a:ext cx="1828800" cy="438912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6648" y="2665475"/>
            <a:ext cx="1700784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AFF"/>
                </a:solidFill>
                <a:latin typeface="Aptos"/>
              </a:rPr>
              <a:t>Available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063240"/>
            <a:ext cx="4754880" cy="146304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" y="3200400"/>
            <a:ext cx="50292" cy="1188720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3218688"/>
            <a:ext cx="44074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ICU EMERGENCY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3630168"/>
            <a:ext cx="4370832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Selected Ambulance: AMB02
Reason: ICU-equipped and available, with a 5-minute ETA.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06440" y="3063240"/>
            <a:ext cx="5440680" cy="146304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24727" y="3200400"/>
            <a:ext cx="50292" cy="1188720"/>
          </a:xfrm>
          <a:prstGeom prst="rect">
            <a:avLst/>
          </a:prstGeom>
          <a:solidFill>
            <a:srgbClr val="68D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3218688"/>
            <a:ext cx="50932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GREEDY RULE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7607" y="3630168"/>
            <a:ext cx="5056632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Choose the minimum estimated response time among all feasible ambulances.
Selected = arg min(ETA)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25780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B15B"/>
                </a:solidFill>
                <a:latin typeface="Aptos"/>
              </a:rPr>
              <a:t>Important: AMB03 is faster overall, but is not suitable for an ICU-required emergency.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Aptos"/>
              </a:rPr>
              <a:t>Dijkstra's Algorithm: Fastest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822960" cy="50292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832104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5C6DB"/>
                </a:solidFill>
                <a:latin typeface="Aptos"/>
              </a:rPr>
              <a:t>Road network represented as a weighted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5C6DB"/>
                </a:solidFill>
                <a:latin typeface="Aptos"/>
              </a:rPr>
              <a:t>06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154680" cy="150876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19"/>
            <a:ext cx="50292" cy="1234439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7"/>
            <a:ext cx="28072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GRAPH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277063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Vertices = locations
Edges = roads
Weights = travel time/cost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280160"/>
            <a:ext cx="3154680" cy="150876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7" y="1417319"/>
            <a:ext cx="50292" cy="1234439"/>
          </a:xfrm>
          <a:prstGeom prst="rect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35607"/>
            <a:ext cx="28072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TRAFFIC-AWARE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47088"/>
            <a:ext cx="277063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Effective Time =
Base Time × Traffic Factor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280160"/>
            <a:ext cx="3657600" cy="150876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07808" y="1417319"/>
            <a:ext cx="50292" cy="1234439"/>
          </a:xfrm>
          <a:prstGeom prst="rect">
            <a:avLst/>
          </a:prstGeom>
          <a:solidFill>
            <a:srgbClr val="68D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435607"/>
            <a:ext cx="33101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847088"/>
            <a:ext cx="3273552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Finds a minimum-cost path when edge weights are non-negative.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337560"/>
            <a:ext cx="2011680" cy="475488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360420"/>
            <a:ext cx="18836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Route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337560"/>
            <a:ext cx="2011680" cy="475488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0088" y="3360420"/>
            <a:ext cx="18836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Base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337560"/>
            <a:ext cx="1828800" cy="475488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1768" y="3360420"/>
            <a:ext cx="17007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Traffic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337560"/>
            <a:ext cx="2468880" cy="475488"/>
          </a:xfrm>
          <a:prstGeom prst="rect">
            <a:avLst/>
          </a:prstGeom>
          <a:solidFill>
            <a:srgbClr val="1D3958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360420"/>
            <a:ext cx="23408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CCBB"/>
                </a:solidFill>
                <a:latin typeface="Aptos"/>
              </a:rPr>
              <a:t>Effective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813048"/>
            <a:ext cx="201168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835908"/>
            <a:ext cx="18836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Route 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813048"/>
            <a:ext cx="201168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0088" y="3835908"/>
            <a:ext cx="18836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5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813048"/>
            <a:ext cx="182880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1768" y="3835908"/>
            <a:ext cx="17007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High (×2)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3813048"/>
            <a:ext cx="2468880" cy="475488"/>
          </a:xfrm>
          <a:prstGeom prst="rect">
            <a:avLst/>
          </a:prstGeom>
          <a:solidFill>
            <a:srgbClr val="172D4A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0568" y="3835908"/>
            <a:ext cx="23408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10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288536"/>
            <a:ext cx="201168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4311396"/>
            <a:ext cx="18836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Route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4288536"/>
            <a:ext cx="201168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0088" y="4311396"/>
            <a:ext cx="18836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7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4288536"/>
            <a:ext cx="182880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1768" y="4311396"/>
            <a:ext cx="170078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Low (×1)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4288536"/>
            <a:ext cx="2468880" cy="475488"/>
          </a:xfrm>
          <a:prstGeom prst="rect">
            <a:avLst/>
          </a:prstGeom>
          <a:solidFill>
            <a:srgbClr val="1E3552"/>
          </a:solidFill>
          <a:ln>
            <a:solidFill>
              <a:srgbClr val="34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0568" y="4311396"/>
            <a:ext cx="2340864" cy="4297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AFF"/>
                </a:solidFill>
                <a:latin typeface="Aptos"/>
              </a:rPr>
              <a:t>7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983480"/>
            <a:ext cx="8046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7DC9D"/>
                </a:solidFill>
                <a:latin typeface="Aptos"/>
              </a:rPr>
              <a:t>Selected route: Route B — 7 minutes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C6DB"/>
                </a:solidFill>
                <a:latin typeface="Aptos"/>
              </a:rPr>
              <a:t>Complexity with adjacency lists and a priority queue: O((V + E) log 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AFF"/>
                </a:solidFill>
                <a:latin typeface="Aptos"/>
              </a:rPr>
              <a:t>Architecture, Example Output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822960" cy="50292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832104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5C6DB"/>
                </a:solidFill>
                <a:latin typeface="Aptos"/>
              </a:rPr>
              <a:t>From algorithm decisions to a usable dispatch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5C6DB"/>
                </a:solidFill>
                <a:latin typeface="Aptos"/>
              </a:rPr>
              <a:t>07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057400" cy="777240"/>
          </a:xfrm>
          <a:prstGeom prst="roundRect">
            <a:avLst/>
          </a:prstGeom>
          <a:solidFill>
            <a:srgbClr val="172D4A"/>
          </a:solidFill>
          <a:ln>
            <a:solidFill>
              <a:srgbClr val="00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71600"/>
            <a:ext cx="19110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React
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1444752"/>
            <a:ext cx="3840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CCB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34440"/>
            <a:ext cx="2057400" cy="777240"/>
          </a:xfrm>
          <a:prstGeom prst="roundRect">
            <a:avLst/>
          </a:prstGeom>
          <a:solidFill>
            <a:srgbClr val="172D4A"/>
          </a:solidFill>
          <a:ln>
            <a:solidFill>
              <a:srgbClr val="68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371600"/>
            <a:ext cx="19110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Flask
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444752"/>
            <a:ext cx="3840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CCB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2377440" cy="777240"/>
          </a:xfrm>
          <a:prstGeom prst="roundRect">
            <a:avLst/>
          </a:prstGeom>
          <a:solidFill>
            <a:srgbClr val="172D4A"/>
          </a:solidFill>
          <a:ln>
            <a:solidFill>
              <a:srgbClr val="FFB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371600"/>
            <a:ext cx="2231136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DAA Algorithms
Queue • Greedy • Dijkstra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1444752"/>
            <a:ext cx="3840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0CCB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234440"/>
            <a:ext cx="2331720" cy="777240"/>
          </a:xfrm>
          <a:prstGeom prst="roundRect">
            <a:avLst/>
          </a:prstGeom>
          <a:solidFill>
            <a:srgbClr val="172D4A"/>
          </a:solidFill>
          <a:ln>
            <a:solidFill>
              <a:srgbClr val="6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1371600"/>
            <a:ext cx="218541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PostgreSQL
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423160"/>
            <a:ext cx="5166360" cy="182880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2560320"/>
            <a:ext cx="50292" cy="1554480"/>
          </a:xfrm>
          <a:prstGeom prst="rect">
            <a:avLst/>
          </a:prstGeom>
          <a:solidFill>
            <a:srgbClr val="00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78608"/>
            <a:ext cx="48188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SAMPLE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2990088"/>
            <a:ext cx="4782312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5C6DB"/>
                </a:solidFill>
                <a:latin typeface="Aptos"/>
              </a:rPr>
              <a:t>Emergency: E101 • Critical • ICU required
Selected ambulance: AMB02 (ICU-equipped)
Estimated ETA: 5 minutes
Route: Station C → Node D → Node F → Hospital Road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23160"/>
            <a:ext cx="5074920" cy="1828800"/>
          </a:xfrm>
          <a:prstGeom prst="roundRect">
            <a:avLst/>
          </a:prstGeom>
          <a:solidFill>
            <a:srgbClr val="172D4A"/>
          </a:solidFill>
          <a:ln>
            <a:solidFill>
              <a:srgbClr val="2F4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560320"/>
            <a:ext cx="50292" cy="1554480"/>
          </a:xfrm>
          <a:prstGeom prst="rect">
            <a:avLst/>
          </a:prstGeom>
          <a:solidFill>
            <a:srgbClr val="FFB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578608"/>
            <a:ext cx="47274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AFF"/>
                </a:solidFill>
                <a:latin typeface="Aptos"/>
              </a:rPr>
              <a:t>ALGORITHM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990088"/>
            <a:ext cx="4690872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5C6DB"/>
                </a:solidFill>
                <a:latin typeface="Aptos"/>
              </a:rPr>
              <a:t>1. Priority Queue → E101 ranked highest
2. Greedy → choose best feasible ambulance
3. Dijkstra → minimum traffic-adjusted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CCBB"/>
                </a:solidFill>
                <a:latin typeface="Aptos"/>
              </a:rPr>
              <a:t>FUTURE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10912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7FAFF"/>
                </a:solidFill>
                <a:latin typeface="Aptos"/>
              </a:rPr>
              <a:t>Live GPS  •  Traffic API  •  Hospital selection  •  Multi-ambulance coordination  •  Map visualization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15000"/>
            <a:ext cx="10561320" cy="502920"/>
          </a:xfrm>
          <a:prstGeom prst="roundRect">
            <a:avLst/>
          </a:prstGeom>
          <a:solidFill>
            <a:srgbClr val="10414D"/>
          </a:solidFill>
          <a:ln>
            <a:solidFill>
              <a:srgbClr val="00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24728"/>
            <a:ext cx="10149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AFF"/>
                </a:solidFill>
                <a:latin typeface="Aptos"/>
              </a:rPr>
              <a:t>PRIORITY QUEUE   →   GREEDY SELECTION   →   DIJKSTRA   →   DISPATCH   • 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